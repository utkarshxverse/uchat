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40EFA-695B-E73B-60A3-B3A66A05E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4D9F8-BD77-5CD6-FA77-86C3AB04FC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14390-D61B-1F02-7904-44FD0208E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8CFA74-DE36-73DA-D7C2-789474690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CB3C1-4207-8BB2-A489-EB9CE41CD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892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0CD6-16FE-9559-195F-22493650E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EB242-879E-4A54-1BD4-B6B9A5BE9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BF141-F016-9656-A3C2-E0E00DC6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BD87F-B393-7113-A175-D12B0BF47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C166F-E709-E72B-5D4D-25880BDC1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956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02A893-2A7C-285E-E04B-FF69E87DFB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7B9109-1A11-FA57-216E-0083C671F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D2766E-DD65-D870-813C-C02F714D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BD29B-E420-74DB-7EAA-A766D5BF7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6784AC-B451-0137-6EDD-6CA18373D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948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30F20-867C-33D1-E186-79608DECC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71968-706D-37B4-A80E-C0AF3A4AF4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F7088-EE7E-86C2-CC52-8D0063F26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3AF42-F883-2CFD-A1B0-BD3F20213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3FE94-555C-91AD-BECA-454A63CA6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0E948-8432-CEAD-59EA-F9E74BE39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8616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9294-FD73-13A5-E664-21E92AFB7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F24D20-B5E9-088E-430F-7537CD07E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EF8578-C92A-47BD-0238-049E266EB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ADC172-E38E-31DE-29E0-F323EAEBC0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2CC6E-B5AE-9E5B-C8C3-93E3E684E8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E1DC38-8652-4E04-4518-0A12FDB44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F24431-F61A-28D4-841A-B90C84F83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05F05CD-384B-CB20-C094-50F0F4FB0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695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7079A-E020-A8DE-156F-70875382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CE89B2-9625-9CA3-065C-D395924A1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F3FF4-CC97-6EFD-AB91-6C5C5ED91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A368B-6B10-96B9-93E2-355F6CA4B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93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C01CEF-C4A5-BB65-EEC0-3BF869B10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6EB217-56F9-3F45-2F3F-80C157AD1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B8348-05A9-ADFB-D5FA-20FCBCE4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2953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7375-0CEF-BB86-3AE9-AC736B25B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4C652-B689-4095-CDEC-5A1052542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9A332A-472C-33D2-B7A8-0B62FA8464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277450-22F9-7139-BFF8-0F908FCA9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7FA0A-F2E0-2B3F-6FF0-D743621C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4842F-DAC1-ECC4-6D5A-F07A4E5C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905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446B2-5EA3-1C0A-AC29-2A33E73EA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3D9AD7-2810-36C5-F968-FE8957DE7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38F8A-FABB-54EB-7795-0AE58F0776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1E8AD7-102C-FCB0-1ABD-B848E9CFB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FE63D9-B385-223A-8BE4-364164ADB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18C71E-BF65-5496-7728-ADD79BC9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0718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36483-C19C-093F-E68C-9F8DFFD9D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10A1F-0CA8-44C7-6386-25E94002A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96197-8B89-7A03-B050-067DDF78B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F6AB2-98AE-6339-8DC6-C369AD639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40F3F-8F7A-D650-3B44-9A4E4A7F0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71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16BD61-6D64-76B8-AB4E-A7F5B875D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3A4609-1CA5-8DED-DB27-878F80199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A17D7-AD94-5015-F15C-893B06976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E69C16-9288-DBA9-E2FD-5BE7B4A09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A98BA-7816-5A0A-18B6-372C63D6B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296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B628C-84EE-42E1-2953-768CCA12D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9261C-B0A9-2ABF-2401-4380ED0DE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51EBD-9F66-5486-4F40-9889DF27F8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B56B42-DAB6-4E8C-939A-9422EBD0AA81}" type="datetimeFigureOut">
              <a:rPr lang="en-IN" smtClean="0"/>
              <a:t>12-09-2025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B02CFC-264B-D227-A37D-E70939274A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4011B0-8EC7-1FB1-D16B-A71A4C9FCB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6F90B-6256-4B98-8735-4FA7E3729D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944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98744DC-0AB1-A4B0-6FA4-765C66075917}"/>
              </a:ext>
            </a:extLst>
          </p:cNvPr>
          <p:cNvCxnSpPr/>
          <p:nvPr/>
        </p:nvCxnSpPr>
        <p:spPr>
          <a:xfrm>
            <a:off x="697584" y="0"/>
            <a:ext cx="0" cy="6858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BCE1F771-3EDA-4774-4118-58B9CB742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639" y="0"/>
            <a:ext cx="8058843" cy="600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0B306DE-B710-549C-5776-45FC45FB0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406" y="0"/>
            <a:ext cx="578178" cy="7290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BC46CC7-76D5-6258-5E0D-3D52B64732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4342" y="109552"/>
            <a:ext cx="1326037" cy="38105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1CDE42-2FAB-8393-DAAD-1E17EA2C89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15" y="5496072"/>
            <a:ext cx="578177" cy="13619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78CB909-2616-B884-CBC3-29F9F33489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6546" y="32232"/>
            <a:ext cx="1867161" cy="56205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6926D0C-717C-681F-E251-41A65766C1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6473" y="1986802"/>
            <a:ext cx="2625392" cy="195712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964B8C4-5409-CB34-4DEF-B0F24A64E29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1575" y="568050"/>
            <a:ext cx="3003173" cy="55773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A811B8BC-F2AF-26F7-7568-91AC6EDD8A5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9879" y="1009901"/>
            <a:ext cx="1095674" cy="57453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587C961-3756-9747-BB73-EE5E05F5525B}"/>
              </a:ext>
            </a:extLst>
          </p:cNvPr>
          <p:cNvSpPr/>
          <p:nvPr/>
        </p:nvSpPr>
        <p:spPr>
          <a:xfrm>
            <a:off x="724534" y="2298504"/>
            <a:ext cx="832609" cy="179108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 dirty="0"/>
              <a:t>Today</a:t>
            </a:r>
            <a:endParaRPr lang="en-IN" sz="105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C9FB48-1918-4522-7356-88036ADE9C07}"/>
              </a:ext>
            </a:extLst>
          </p:cNvPr>
          <p:cNvSpPr/>
          <p:nvPr/>
        </p:nvSpPr>
        <p:spPr>
          <a:xfrm>
            <a:off x="914762" y="1080459"/>
            <a:ext cx="1095674" cy="5065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 dirty="0"/>
              <a:t>KPI card of </a:t>
            </a:r>
            <a:r>
              <a:rPr lang="en-GB" sz="1050" dirty="0" err="1"/>
              <a:t>Avg</a:t>
            </a:r>
            <a:r>
              <a:rPr lang="en-GB" sz="1050" dirty="0"/>
              <a:t> attendance this week in % </a:t>
            </a:r>
            <a:endParaRPr lang="en-IN" sz="10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6F0B905-EFF1-BAD9-A1EA-93ADB0959D67}"/>
              </a:ext>
            </a:extLst>
          </p:cNvPr>
          <p:cNvSpPr/>
          <p:nvPr/>
        </p:nvSpPr>
        <p:spPr>
          <a:xfrm>
            <a:off x="2643327" y="1150465"/>
            <a:ext cx="1095674" cy="5065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 dirty="0"/>
              <a:t>KPI card of </a:t>
            </a:r>
            <a:r>
              <a:rPr lang="en-GB" sz="1050" dirty="0" err="1"/>
              <a:t>Avg</a:t>
            </a:r>
            <a:r>
              <a:rPr lang="en-GB" sz="1050" dirty="0"/>
              <a:t> leaves this week in % </a:t>
            </a:r>
            <a:endParaRPr lang="en-IN" sz="105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D0C735E-FB1A-F6E2-9F78-1AA292E7A7E8}"/>
              </a:ext>
            </a:extLst>
          </p:cNvPr>
          <p:cNvSpPr/>
          <p:nvPr/>
        </p:nvSpPr>
        <p:spPr>
          <a:xfrm>
            <a:off x="8235238" y="1150464"/>
            <a:ext cx="1095674" cy="5065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00" dirty="0"/>
              <a:t>KPI card of Employees satisfaction rate in % </a:t>
            </a:r>
            <a:endParaRPr lang="en-IN" sz="10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B11ED59-E5C3-DAE4-BADD-2BB5738F6221}"/>
              </a:ext>
            </a:extLst>
          </p:cNvPr>
          <p:cNvSpPr/>
          <p:nvPr/>
        </p:nvSpPr>
        <p:spPr>
          <a:xfrm>
            <a:off x="4418961" y="1166266"/>
            <a:ext cx="1095674" cy="5065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 dirty="0"/>
              <a:t>KPI card of New hires this month in number</a:t>
            </a:r>
            <a:endParaRPr lang="en-IN" sz="105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62D388-791B-CE47-D45F-5BE3C41D80B0}"/>
              </a:ext>
            </a:extLst>
          </p:cNvPr>
          <p:cNvSpPr/>
          <p:nvPr/>
        </p:nvSpPr>
        <p:spPr>
          <a:xfrm>
            <a:off x="6194596" y="1150464"/>
            <a:ext cx="1095674" cy="5065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 dirty="0"/>
              <a:t>KPI card of Exits employee in numbers</a:t>
            </a:r>
            <a:endParaRPr lang="en-IN" sz="1050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FACD47F-94E4-9ED6-8C27-131EF1DF9CEC}"/>
              </a:ext>
            </a:extLst>
          </p:cNvPr>
          <p:cNvSpPr/>
          <p:nvPr/>
        </p:nvSpPr>
        <p:spPr>
          <a:xfrm>
            <a:off x="849879" y="3371757"/>
            <a:ext cx="832608" cy="89556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2 Half day</a:t>
            </a:r>
            <a:endParaRPr lang="en-IN" sz="800" dirty="0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35D2060E-7C8E-22A2-02FD-DE1F3F57329D}"/>
              </a:ext>
            </a:extLst>
          </p:cNvPr>
          <p:cNvSpPr/>
          <p:nvPr/>
        </p:nvSpPr>
        <p:spPr>
          <a:xfrm>
            <a:off x="889266" y="3393675"/>
            <a:ext cx="45719" cy="45719"/>
          </a:xfrm>
          <a:prstGeom prst="flowChartConnector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102938C-6245-73B3-77D1-556B03AF5F9B}"/>
              </a:ext>
            </a:extLst>
          </p:cNvPr>
          <p:cNvSpPr/>
          <p:nvPr/>
        </p:nvSpPr>
        <p:spPr>
          <a:xfrm>
            <a:off x="934985" y="3566893"/>
            <a:ext cx="1244316" cy="18067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800" dirty="0"/>
              <a:t>12% more than Yesterday</a:t>
            </a:r>
            <a:endParaRPr lang="en-IN" sz="800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E0AC1BE2-31FD-5D43-1657-BBD1F738667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5681" y="1962453"/>
            <a:ext cx="3003173" cy="1981477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E9D3222-D8E2-2D58-AB1F-434D3F47052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46900" y="4142190"/>
            <a:ext cx="5905728" cy="1683057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39030C17-4C3F-F07B-BED4-4EC971EE2FBA}"/>
              </a:ext>
            </a:extLst>
          </p:cNvPr>
          <p:cNvSpPr/>
          <p:nvPr/>
        </p:nvSpPr>
        <p:spPr>
          <a:xfrm>
            <a:off x="10331686" y="1125782"/>
            <a:ext cx="1095674" cy="50652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 dirty="0"/>
              <a:t>KPI card of Upcoming Birthday</a:t>
            </a:r>
            <a:endParaRPr lang="en-IN" sz="1050" dirty="0"/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21DD78D-F351-B057-4621-27E389C97F3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1576" y="4049510"/>
            <a:ext cx="5051621" cy="2568106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BFEE06EA-C1EA-70B7-FD1D-B9B7BC2A353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0681" y="2068033"/>
            <a:ext cx="2203990" cy="1981477"/>
          </a:xfrm>
          <a:prstGeom prst="rect">
            <a:avLst/>
          </a:prstGeom>
        </p:spPr>
      </p:pic>
      <p:sp>
        <p:nvSpPr>
          <p:cNvPr id="52" name="Rectangle 51">
            <a:extLst>
              <a:ext uri="{FF2B5EF4-FFF2-40B4-BE49-F238E27FC236}">
                <a16:creationId xmlns:a16="http://schemas.microsoft.com/office/drawing/2014/main" id="{C14E1753-9EDB-F778-B82A-F9D0128F665D}"/>
              </a:ext>
            </a:extLst>
          </p:cNvPr>
          <p:cNvSpPr/>
          <p:nvPr/>
        </p:nvSpPr>
        <p:spPr>
          <a:xfrm>
            <a:off x="-343831" y="1986802"/>
            <a:ext cx="924593" cy="154950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The sidebar as it is like before</a:t>
            </a:r>
            <a:endParaRPr lang="en-IN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CA96F4A2-BA0A-57CC-DBCE-D3680F76EDB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24961" y="1999892"/>
            <a:ext cx="2029108" cy="1981477"/>
          </a:xfrm>
          <a:prstGeom prst="rect">
            <a:avLst/>
          </a:prstGeom>
        </p:spPr>
      </p:pic>
      <p:sp>
        <p:nvSpPr>
          <p:cNvPr id="59" name="Rectangle 58">
            <a:extLst>
              <a:ext uri="{FF2B5EF4-FFF2-40B4-BE49-F238E27FC236}">
                <a16:creationId xmlns:a16="http://schemas.microsoft.com/office/drawing/2014/main" id="{277815DB-C885-0CE1-E652-92008A92367D}"/>
              </a:ext>
            </a:extLst>
          </p:cNvPr>
          <p:cNvSpPr/>
          <p:nvPr/>
        </p:nvSpPr>
        <p:spPr>
          <a:xfrm>
            <a:off x="7011405" y="5985869"/>
            <a:ext cx="682557" cy="25326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050" dirty="0"/>
              <a:t>Today</a:t>
            </a:r>
            <a:endParaRPr lang="en-IN" sz="1050" dirty="0"/>
          </a:p>
        </p:txBody>
      </p:sp>
    </p:spTree>
    <p:extLst>
      <p:ext uri="{BB962C8B-B14F-4D97-AF65-F5344CB8AC3E}">
        <p14:creationId xmlns:p14="http://schemas.microsoft.com/office/powerpoint/2010/main" val="1358937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71A65E-3CD2-014D-78CA-867377D289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535" y="596551"/>
            <a:ext cx="2695951" cy="26483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B41D40-A229-F6F4-4E3C-003E6A6B37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6537" y="5553959"/>
            <a:ext cx="1628775" cy="1066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4ECD77-6E27-30FE-F5BE-C11EFD51FA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0758" y="736178"/>
            <a:ext cx="2695951" cy="26483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0EF0FC-0EA9-E703-FC53-CEED68376E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88" y="3384498"/>
            <a:ext cx="2800741" cy="28769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21F738-A342-2A59-461E-8BD60EAB0F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0758" y="3839220"/>
            <a:ext cx="1876687" cy="17147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5B17E60-62AA-21B8-295D-5320EC1C3A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4573" y="2314419"/>
            <a:ext cx="3400900" cy="2229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0438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BDF2E32-AEE8-AECC-C78D-42C25EB1D291}"/>
              </a:ext>
            </a:extLst>
          </p:cNvPr>
          <p:cNvSpPr/>
          <p:nvPr/>
        </p:nvSpPr>
        <p:spPr>
          <a:xfrm>
            <a:off x="75414" y="110765"/>
            <a:ext cx="11896627" cy="66364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sz="1100" b="1" dirty="0"/>
              <a:t>Key KPIs to Display</a:t>
            </a:r>
          </a:p>
          <a:p>
            <a:r>
              <a:rPr lang="en-GB" sz="1100" b="1" dirty="0"/>
              <a:t>Attendance Rate (%)</a:t>
            </a:r>
            <a:r>
              <a:rPr lang="en-GB" sz="1100" dirty="0"/>
              <a:t> – (Present / Total Employees) over selected time period.</a:t>
            </a:r>
          </a:p>
          <a:p>
            <a:r>
              <a:rPr lang="en-GB" sz="1100" b="1" dirty="0"/>
              <a:t>On-time Arrival %</a:t>
            </a:r>
            <a:r>
              <a:rPr lang="en-GB" sz="1100" dirty="0"/>
              <a:t> – (Employees who arrived on time / Present employees).</a:t>
            </a:r>
          </a:p>
          <a:p>
            <a:r>
              <a:rPr lang="en-GB" sz="1100" b="1" dirty="0"/>
              <a:t>Late Arrival Count</a:t>
            </a:r>
            <a:r>
              <a:rPr lang="en-GB" sz="1100" dirty="0"/>
              <a:t> – No. of employees arriving late (daily/weekly).</a:t>
            </a:r>
          </a:p>
          <a:p>
            <a:r>
              <a:rPr lang="en-GB" sz="1100" b="1" dirty="0"/>
              <a:t>Early Leave Count</a:t>
            </a:r>
            <a:r>
              <a:rPr lang="en-GB" sz="1100" dirty="0"/>
              <a:t> – Employees leaving before standard shift end.</a:t>
            </a:r>
          </a:p>
          <a:p>
            <a:r>
              <a:rPr lang="en-GB" sz="1100" b="1" dirty="0"/>
              <a:t>Average Check-in Time &amp; Check-out Time</a:t>
            </a:r>
            <a:r>
              <a:rPr lang="en-GB" sz="1100" dirty="0"/>
              <a:t>.</a:t>
            </a:r>
          </a:p>
          <a:p>
            <a:r>
              <a:rPr lang="en-GB" sz="1100" b="1" dirty="0"/>
              <a:t>Average Working Hours (per employee / per department)</a:t>
            </a:r>
            <a:r>
              <a:rPr lang="en-GB" sz="1100" dirty="0"/>
              <a:t>.</a:t>
            </a:r>
          </a:p>
          <a:p>
            <a:r>
              <a:rPr lang="en-GB" sz="1100" b="1" dirty="0"/>
              <a:t>Absenteeism Rate (%)</a:t>
            </a:r>
            <a:r>
              <a:rPr lang="en-GB" sz="1100" dirty="0"/>
              <a:t> – (Absent employees / Total employees).</a:t>
            </a:r>
          </a:p>
          <a:p>
            <a:r>
              <a:rPr lang="en-GB" sz="1100" b="1" dirty="0"/>
              <a:t>Department-wise Attendance %</a:t>
            </a:r>
            <a:r>
              <a:rPr lang="en-GB" sz="1100" dirty="0"/>
              <a:t> (comparison </a:t>
            </a:r>
            <a:r>
              <a:rPr lang="en-GB" sz="1100"/>
              <a:t>metric).</a:t>
            </a:r>
            <a:endParaRPr lang="en-GB" sz="1100" dirty="0"/>
          </a:p>
          <a:p>
            <a:r>
              <a:rPr lang="en-GB" sz="1100" b="1" dirty="0"/>
              <a:t>Suggested Charts &amp; Visualizations</a:t>
            </a:r>
          </a:p>
          <a:p>
            <a:r>
              <a:rPr lang="en-GB" sz="1100" b="1" dirty="0"/>
              <a:t>1. Daily/Weekly Trend</a:t>
            </a:r>
          </a:p>
          <a:p>
            <a:r>
              <a:rPr lang="en-GB" sz="1100" b="1" dirty="0"/>
              <a:t>Line Graph</a:t>
            </a:r>
            <a:r>
              <a:rPr lang="en-GB" sz="1100" dirty="0"/>
              <a:t>: Daily attendance rate (Present %, Absent %, Late %).</a:t>
            </a:r>
          </a:p>
          <a:p>
            <a:r>
              <a:rPr lang="en-GB" sz="1100" dirty="0"/>
              <a:t>Helps HR see </a:t>
            </a:r>
            <a:r>
              <a:rPr lang="en-GB" sz="1100" b="1" dirty="0"/>
              <a:t>patterns (e.g., Mondays high absenteeism, Fridays early leaves)</a:t>
            </a:r>
            <a:r>
              <a:rPr lang="en-GB" sz="1100" dirty="0"/>
              <a:t>.</a:t>
            </a:r>
          </a:p>
          <a:p>
            <a:r>
              <a:rPr lang="en-GB" sz="1100" b="1" dirty="0"/>
              <a:t>2. Department/Team Breakdown</a:t>
            </a:r>
          </a:p>
          <a:p>
            <a:r>
              <a:rPr lang="en-GB" sz="1100" b="1" dirty="0"/>
              <a:t>Stacked Bar Chart</a:t>
            </a:r>
            <a:r>
              <a:rPr lang="en-GB" sz="1100" dirty="0"/>
              <a:t>: Present vs Absent vs Late for each department/team.</a:t>
            </a:r>
          </a:p>
          <a:p>
            <a:r>
              <a:rPr lang="en-GB" sz="1100" b="1" dirty="0"/>
              <a:t>Heatmap</a:t>
            </a:r>
            <a:r>
              <a:rPr lang="en-GB" sz="1100" dirty="0"/>
              <a:t>: Days vs Departments → highlights departments with consistent lateness/absence.</a:t>
            </a:r>
          </a:p>
          <a:p>
            <a:r>
              <a:rPr lang="en-GB" sz="1100" b="1" dirty="0"/>
              <a:t>3. Check-in &amp; Check-out Patterns</a:t>
            </a:r>
          </a:p>
          <a:p>
            <a:r>
              <a:rPr lang="en-GB" sz="1100" b="1" dirty="0"/>
              <a:t>Box Plot or Violin Plot</a:t>
            </a:r>
            <a:r>
              <a:rPr lang="en-GB" sz="1100" dirty="0"/>
              <a:t>: Distribution of check-in times → shows spread of punctuality.</a:t>
            </a:r>
          </a:p>
          <a:p>
            <a:r>
              <a:rPr lang="en-GB" sz="1100" b="1" dirty="0"/>
              <a:t>Line/Bar Graph</a:t>
            </a:r>
            <a:r>
              <a:rPr lang="en-GB" sz="1100" dirty="0"/>
              <a:t>: Average check-out time by department/day.</a:t>
            </a:r>
          </a:p>
          <a:p>
            <a:r>
              <a:rPr lang="en-GB" sz="1100" b="1" dirty="0"/>
              <a:t>4. Late Coming Analysis</a:t>
            </a:r>
          </a:p>
          <a:p>
            <a:r>
              <a:rPr lang="en-GB" sz="1100" b="1" dirty="0"/>
              <a:t>Histogram</a:t>
            </a:r>
            <a:r>
              <a:rPr lang="en-GB" sz="1100" dirty="0"/>
              <a:t>: How late people usually come (5 min, 15 min, 30 min, 1 hr+).</a:t>
            </a:r>
          </a:p>
          <a:p>
            <a:r>
              <a:rPr lang="en-GB" sz="1100" b="1" dirty="0"/>
              <a:t>Top 10 Frequent Late Comers</a:t>
            </a:r>
            <a:r>
              <a:rPr lang="en-GB" sz="1100" dirty="0"/>
              <a:t> (table or horizontal bar).</a:t>
            </a:r>
          </a:p>
          <a:p>
            <a:r>
              <a:rPr lang="en-GB" sz="1100" b="1" dirty="0"/>
              <a:t>5. Absenteeism Analysis</a:t>
            </a:r>
          </a:p>
          <a:p>
            <a:r>
              <a:rPr lang="en-GB" sz="1100" b="1" dirty="0"/>
              <a:t>Pie Chart</a:t>
            </a:r>
            <a:r>
              <a:rPr lang="en-GB" sz="1100" dirty="0"/>
              <a:t>: Reasons for absence (if categorized – e.g., Sick Leave, Casual Leave, Unplanned).</a:t>
            </a:r>
          </a:p>
          <a:p>
            <a:r>
              <a:rPr lang="en-GB" sz="1100" b="1" dirty="0"/>
              <a:t>Trend Line</a:t>
            </a:r>
            <a:r>
              <a:rPr lang="en-GB" sz="1100" dirty="0"/>
              <a:t>: Absenteeism % over time.</a:t>
            </a:r>
          </a:p>
          <a:p>
            <a:r>
              <a:rPr lang="en-GB" sz="1100" b="1" dirty="0"/>
              <a:t>6. Overtime &amp; Half-days</a:t>
            </a:r>
          </a:p>
          <a:p>
            <a:r>
              <a:rPr lang="en-GB" sz="1100" dirty="0"/>
              <a:t>Already you have </a:t>
            </a:r>
            <a:r>
              <a:rPr lang="en-GB" sz="1100" b="1" dirty="0"/>
              <a:t>overtime bar graph</a:t>
            </a:r>
            <a:r>
              <a:rPr lang="en-GB" sz="1100" dirty="0"/>
              <a:t> in overview.</a:t>
            </a:r>
          </a:p>
          <a:p>
            <a:r>
              <a:rPr lang="en-GB" sz="1100" dirty="0"/>
              <a:t>In detail tab:</a:t>
            </a:r>
          </a:p>
          <a:p>
            <a:pPr lvl="1"/>
            <a:r>
              <a:rPr lang="en-GB" sz="1100" b="1" dirty="0"/>
              <a:t>Scatter Plot</a:t>
            </a:r>
            <a:r>
              <a:rPr lang="en-GB" sz="1100" dirty="0"/>
              <a:t>: Overtime hours vs employees (to see overworked staff).</a:t>
            </a:r>
          </a:p>
          <a:p>
            <a:pPr lvl="1"/>
            <a:r>
              <a:rPr lang="en-GB" sz="1100" b="1" dirty="0"/>
              <a:t>Half-day Trend Graph</a:t>
            </a:r>
            <a:r>
              <a:rPr lang="en-GB" sz="1100" dirty="0"/>
              <a:t>: Half-days per department per month.</a:t>
            </a:r>
          </a:p>
          <a:p>
            <a:pPr lvl="1"/>
            <a:endParaRPr lang="en-GB" sz="1100" dirty="0"/>
          </a:p>
          <a:p>
            <a:r>
              <a:rPr lang="en-GB" sz="800" b="1" dirty="0"/>
              <a:t>7. Employee Drill-down Table</a:t>
            </a:r>
          </a:p>
          <a:p>
            <a:r>
              <a:rPr lang="en-GB" sz="800" dirty="0"/>
              <a:t>Searchable/filterable </a:t>
            </a:r>
            <a:r>
              <a:rPr lang="en-GB" sz="800" b="1" dirty="0"/>
              <a:t>data table</a:t>
            </a:r>
            <a:r>
              <a:rPr lang="en-GB" sz="800" dirty="0"/>
              <a:t> with:</a:t>
            </a:r>
          </a:p>
          <a:p>
            <a:pPr lvl="1"/>
            <a:r>
              <a:rPr lang="en-GB" sz="800" dirty="0"/>
              <a:t>Employee Name</a:t>
            </a:r>
          </a:p>
          <a:p>
            <a:pPr lvl="1"/>
            <a:r>
              <a:rPr lang="en-GB" sz="800" dirty="0"/>
              <a:t>Department</a:t>
            </a:r>
          </a:p>
          <a:p>
            <a:pPr lvl="1"/>
            <a:r>
              <a:rPr lang="en-GB" sz="800" dirty="0"/>
              <a:t>Check-in Time</a:t>
            </a:r>
          </a:p>
          <a:p>
            <a:pPr lvl="1"/>
            <a:r>
              <a:rPr lang="en-GB" sz="800" dirty="0"/>
              <a:t>Check-out Time</a:t>
            </a:r>
          </a:p>
          <a:p>
            <a:pPr lvl="1"/>
            <a:r>
              <a:rPr lang="en-GB" sz="800" dirty="0"/>
              <a:t>Total Working Hours</a:t>
            </a:r>
          </a:p>
          <a:p>
            <a:pPr lvl="1"/>
            <a:r>
              <a:rPr lang="en-GB" sz="800" dirty="0"/>
              <a:t>Late? (Y/N)</a:t>
            </a:r>
          </a:p>
          <a:p>
            <a:pPr lvl="1"/>
            <a:r>
              <a:rPr lang="en-GB" sz="800" dirty="0"/>
              <a:t>Half-day? (Y/N)</a:t>
            </a:r>
          </a:p>
          <a:p>
            <a:pPr lvl="1"/>
            <a:r>
              <a:rPr lang="en-GB" sz="800" dirty="0"/>
              <a:t>Overtime Hours</a:t>
            </a:r>
          </a:p>
          <a:p>
            <a:endParaRPr lang="en-GB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D225A2-41FE-2C88-99B2-6E8ABFDFB4A2}"/>
              </a:ext>
            </a:extLst>
          </p:cNvPr>
          <p:cNvSpPr/>
          <p:nvPr/>
        </p:nvSpPr>
        <p:spPr>
          <a:xfrm>
            <a:off x="6730738" y="1611982"/>
            <a:ext cx="4025245" cy="339364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1600" b="1" dirty="0"/>
              <a:t>🧭 Suggested Layout</a:t>
            </a:r>
          </a:p>
          <a:p>
            <a:r>
              <a:rPr lang="en-IN" sz="1600" dirty="0">
                <a:solidFill>
                  <a:schemeClr val="tx1"/>
                </a:solidFill>
              </a:rPr>
              <a:t>Top KPI cards (Attendance %, Absenteeism %, Late arrivals, Avg. working hours).</a:t>
            </a:r>
          </a:p>
          <a:p>
            <a:r>
              <a:rPr lang="en-IN" sz="1600" dirty="0">
                <a:solidFill>
                  <a:schemeClr val="tx1"/>
                </a:solidFill>
              </a:rPr>
              <a:t>Trend Graphs (line chart for daily/weekly attendance).</a:t>
            </a:r>
          </a:p>
          <a:p>
            <a:r>
              <a:rPr lang="en-IN" sz="1600" dirty="0">
                <a:solidFill>
                  <a:schemeClr val="tx1"/>
                </a:solidFill>
              </a:rPr>
              <a:t>Department-wise Charts (stacked bar, heatmap).</a:t>
            </a:r>
          </a:p>
          <a:p>
            <a:r>
              <a:rPr lang="en-IN" sz="1600" dirty="0" err="1">
                <a:solidFill>
                  <a:schemeClr val="tx1"/>
                </a:solidFill>
              </a:rPr>
              <a:t>Behavioral</a:t>
            </a:r>
            <a:r>
              <a:rPr lang="en-IN" sz="1600" dirty="0">
                <a:solidFill>
                  <a:schemeClr val="tx1"/>
                </a:solidFill>
              </a:rPr>
              <a:t> Analysis (late arrival histogram, check-in/out distribution).</a:t>
            </a:r>
          </a:p>
          <a:p>
            <a:r>
              <a:rPr lang="en-IN" sz="1600" dirty="0">
                <a:solidFill>
                  <a:schemeClr val="tx1"/>
                </a:solidFill>
              </a:rPr>
              <a:t>Absenteeism &amp; Overtime trends.</a:t>
            </a:r>
          </a:p>
          <a:p>
            <a:r>
              <a:rPr lang="en-IN" sz="1600" dirty="0">
                <a:solidFill>
                  <a:schemeClr val="tx1"/>
                </a:solidFill>
              </a:rPr>
              <a:t>Employee Drill-down Table at bottom for details.</a:t>
            </a:r>
          </a:p>
        </p:txBody>
      </p:sp>
    </p:spTree>
    <p:extLst>
      <p:ext uri="{BB962C8B-B14F-4D97-AF65-F5344CB8AC3E}">
        <p14:creationId xmlns:p14="http://schemas.microsoft.com/office/powerpoint/2010/main" val="1671989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8E2A7C-6C46-4C84-9303-81DE8A0EA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6" y="87210"/>
            <a:ext cx="5229955" cy="324847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61A6CCB-F560-80F8-F262-DC711ACB54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3683" y="87210"/>
            <a:ext cx="1857634" cy="157184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FB53D73-D8AE-5436-0CB7-E0722E12D2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7901" y="1706202"/>
            <a:ext cx="3877216" cy="195187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D8268D-632B-9496-8058-C330EC1397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3334" y="3658072"/>
            <a:ext cx="5889247" cy="27393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881980-863A-8604-88DA-6A19FA0FB4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2648" y="3658071"/>
            <a:ext cx="5879352" cy="28841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D58252-0911-15E4-80FF-DB86C86002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1317" y="-16620"/>
            <a:ext cx="4775634" cy="1835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98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5EF592D-6F72-34F0-5067-703369902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4758"/>
            <a:ext cx="12192000" cy="314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293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6F5AB13-C144-D4F1-8534-BF77B7D8AB10}"/>
              </a:ext>
            </a:extLst>
          </p:cNvPr>
          <p:cNvSpPr/>
          <p:nvPr/>
        </p:nvSpPr>
        <p:spPr>
          <a:xfrm>
            <a:off x="1153605" y="848413"/>
            <a:ext cx="2641862" cy="32051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09-01-2025 to 09-12-2025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CAEFB2-1152-3119-A20C-D7F65FC4D797}"/>
              </a:ext>
            </a:extLst>
          </p:cNvPr>
          <p:cNvSpPr/>
          <p:nvPr/>
        </p:nvSpPr>
        <p:spPr>
          <a:xfrm>
            <a:off x="1508289" y="509048"/>
            <a:ext cx="1932495" cy="26395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Date Range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570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1234</TotalTime>
  <Words>485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MAHI</dc:creator>
  <cp:lastModifiedBy>MAHI</cp:lastModifiedBy>
  <cp:revision>6</cp:revision>
  <dcterms:created xsi:type="dcterms:W3CDTF">2025-08-26T12:57:49Z</dcterms:created>
  <dcterms:modified xsi:type="dcterms:W3CDTF">2025-09-12T10:11:54Z</dcterms:modified>
</cp:coreProperties>
</file>